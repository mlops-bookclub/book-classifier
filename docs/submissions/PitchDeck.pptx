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258" r:id="rId6"/>
    <p:sldId id="263" r:id="rId7"/>
    <p:sldId id="264" r:id="rId8"/>
    <p:sldId id="257" r:id="rId9"/>
    <p:sldId id="265" r:id="rId10"/>
    <p:sldId id="260" r:id="rId11"/>
    <p:sldId id="259" r:id="rId12"/>
    <p:sldId id="261" r:id="rId13"/>
    <p:sldId id="262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B0B74C-1EB9-5141-AACD-52908E541BEC}" v="24" dt="2026-04-18T08:31:04.293"/>
    <p1510:client id="{BA9B0E16-D2A7-4440-8342-E07F380E934C}" v="140" dt="2026-04-18T11:15:49.509"/>
    <p1510:client id="{BE67773D-1ECF-4551-AFDC-55BCB68576EB}" v="5" dt="2026-04-18T07:45:04.788"/>
    <p1510:client id="{C9CE9A81-0DD0-4603-8E8C-AE49F1B08875}" v="225" dt="2026-04-18T11:02:15.2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60" y="10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4B1CF-6D33-2E46-9D4A-881B7E197F2A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945385-9D88-5F44-94A2-FF41C70BEB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0534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45385-9D88-5F44-94A2-FF41C70BEBC6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464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1ED16E-3FC1-4E68-8D2B-55BE73D9D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682F34A-78A5-49C6-9DB6-144AEA5D2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6AC303-82DF-4A7A-B320-79CDCCC32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FDEC-F7AF-44FC-AE2B-F302827C4B59}" type="datetimeFigureOut">
              <a:rPr lang="de-CH" smtClean="0"/>
              <a:t>20.04.2026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AC922F-E48C-4C80-9032-0CA7F96DA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89D11D-1467-4749-869B-279F2ABC7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566EC-8B52-4D09-B636-EC0537475F7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0798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E244CB-E0DC-48A4-84A8-86F28F36D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08147E-CD60-4C22-9CCD-6D5D875C9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EA5BF1-5981-4167-9F84-1F3B19F10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FDEC-F7AF-44FC-AE2B-F302827C4B59}" type="datetimeFigureOut">
              <a:rPr lang="de-CH" smtClean="0"/>
              <a:t>20.04.2026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644716-D248-46E2-B151-CE37C8CB3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66CA5D-C8B9-44D3-B683-2B6CA05E8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566EC-8B52-4D09-B636-EC0537475F7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36295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B8581E-ABA0-4481-BD78-EDE810C1C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3A1D41-96F7-4D71-9CE6-1F434C2DA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BC077B-1385-4776-91BE-F4655D2BF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FDEC-F7AF-44FC-AE2B-F302827C4B59}" type="datetimeFigureOut">
              <a:rPr lang="de-CH" smtClean="0"/>
              <a:t>20.04.2026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A1F3FE-D14F-4C1E-BE68-A48E4872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297474-118B-46E6-87D1-0358668A3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566EC-8B52-4D09-B636-EC0537475F7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99568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567E85-D956-439F-B730-11AF2F756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787654-2D07-4F0F-8E5A-8D4AE6A24A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BBB3557-95D3-4115-8480-8042D0747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B53C724-28B8-4CCD-BD39-CE0265F1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FDEC-F7AF-44FC-AE2B-F302827C4B59}" type="datetimeFigureOut">
              <a:rPr lang="de-CH" smtClean="0"/>
              <a:t>20.04.2026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B2E100B-6473-417F-84BA-B7BD3C4EC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7008F62-EC89-40A3-8FB4-23A42FAB5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566EC-8B52-4D09-B636-EC0537475F7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4045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22C174-924D-46EB-B98E-FD76AB728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DB322C9-39E5-464F-9BBE-DCA806429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7B7D6BB-E37A-4045-B05D-9747B4B48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5F9D426-D433-4AD3-ACD1-CE71E6A656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BC66172-251A-4FB9-B597-838DFAD05D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ED22F29-D7A0-4451-9EF9-E273ACEB3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FDEC-F7AF-44FC-AE2B-F302827C4B59}" type="datetimeFigureOut">
              <a:rPr lang="de-CH" smtClean="0"/>
              <a:t>20.04.2026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5A1FEFF-B169-4374-84FC-972672342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40AE1C9-0DE9-4F4F-9A30-E756A88E4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566EC-8B52-4D09-B636-EC0537475F7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54061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18CEB9-EE96-45E8-9A50-C30160F38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FEC0B1F-95D8-4674-A66A-720873F6D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FDEC-F7AF-44FC-AE2B-F302827C4B59}" type="datetimeFigureOut">
              <a:rPr lang="de-CH" smtClean="0"/>
              <a:t>20.04.2026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07BAE5A-CCC0-4809-B709-D46B1EEFF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B44E707-3C0B-4289-9725-1B73AF84E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566EC-8B52-4D09-B636-EC0537475F7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84894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1EA973E-1B49-4E5B-B016-C237CB474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FDEC-F7AF-44FC-AE2B-F302827C4B59}" type="datetimeFigureOut">
              <a:rPr lang="de-CH" smtClean="0"/>
              <a:t>20.04.2026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D7E00B1-8193-477C-81D3-591018576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701520-F432-4B89-BB4F-7B6D93695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566EC-8B52-4D09-B636-EC0537475F7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78963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CC9737-C276-4335-A34C-BD31CF8A5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C32E36-94D9-42B5-94A1-D0D162447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4E0389A-DA19-4421-BA57-203376F75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DF3FA0A-1173-496C-A0AD-32C3286B5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FDEC-F7AF-44FC-AE2B-F302827C4B59}" type="datetimeFigureOut">
              <a:rPr lang="de-CH" smtClean="0"/>
              <a:t>20.04.2026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B1D865B-5E37-4F3E-ACF0-5620B3513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4BEE5F1-16BD-4205-863B-116F15DE3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566EC-8B52-4D09-B636-EC0537475F7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81890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CD2290-AD23-4BA4-9D81-708C64AA2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5027B6C-E93C-4A56-AF24-FE6709033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7B5E8F6-CAA7-4D20-AC1D-6B9D97BE7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320157-26C8-4000-AF26-B66B22F4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FDEC-F7AF-44FC-AE2B-F302827C4B59}" type="datetimeFigureOut">
              <a:rPr lang="de-CH" smtClean="0"/>
              <a:t>20.04.2026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B32A55-468E-4B67-9EA9-8A1629354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B8D6E1A-FB9D-4FA8-A563-4CE4F4EE0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566EC-8B52-4D09-B636-EC0537475F7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55946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045D95-6A1A-4106-8D51-14D5FC2AE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0A380B1-718A-4C32-8A98-FA15A0B14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43A1D8-1C6A-495C-BFF5-59AF504A6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FDEC-F7AF-44FC-AE2B-F302827C4B59}" type="datetimeFigureOut">
              <a:rPr lang="de-CH" smtClean="0"/>
              <a:t>20.04.2026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3E7CC7-B4D6-469D-944D-16730A0F0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D778F7-8E38-4F59-8100-0CBD4AB9B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566EC-8B52-4D09-B636-EC0537475F7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12502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2583028-B030-4BB4-ACEA-83CA17EC25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C5ED686-A1D4-4671-BBB1-6A6B732B8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660EB4-DAEC-4AF1-8F1E-390B962FA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FDEC-F7AF-44FC-AE2B-F302827C4B59}" type="datetimeFigureOut">
              <a:rPr lang="de-CH" smtClean="0"/>
              <a:t>20.04.2026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1B3F46-6D7B-4410-B8FE-47B7B0681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9C5922-ED89-450A-B135-B3AAD933E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566EC-8B52-4D09-B636-EC0537475F7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10329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9EAF0C5-FF15-47BB-A2E1-DB216FEA5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9CBE2B-B3D4-416F-BBD6-B21575006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8A8118-0275-4BD1-A3DE-C3AE70E11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DFDEC-F7AF-44FC-AE2B-F302827C4B59}" type="datetimeFigureOut">
              <a:rPr lang="de-CH" smtClean="0"/>
              <a:t>20.04.2026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5D6FCA-CB88-4F7A-B44C-DA323456F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071E74-D812-4C40-AB07-18F49BF0B7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566EC-8B52-4D09-B636-EC0537475F7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99548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github.com/zygmuntz/goodbooks-10k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294B67E-110E-4A4A-8428-925F89560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180" y="473332"/>
            <a:ext cx="5445632" cy="1695574"/>
          </a:xfrm>
        </p:spPr>
        <p:txBody>
          <a:bodyPr anchor="t">
            <a:noAutofit/>
          </a:bodyPr>
          <a:lstStyle/>
          <a:p>
            <a:pPr algn="l"/>
            <a:r>
              <a:rPr lang="de-CH" sz="3600">
                <a:latin typeface="Arvo" panose="02000000000000000000" pitchFamily="2" charset="0"/>
              </a:rPr>
              <a:t>Book </a:t>
            </a:r>
            <a:r>
              <a:rPr lang="de-CH" sz="3600" err="1">
                <a:latin typeface="Arvo" panose="02000000000000000000" pitchFamily="2" charset="0"/>
              </a:rPr>
              <a:t>Recommendation</a:t>
            </a:r>
            <a:br>
              <a:rPr lang="de-CH" sz="3600">
                <a:latin typeface="Arvo" panose="02000000000000000000" pitchFamily="2" charset="0"/>
              </a:rPr>
            </a:br>
            <a:r>
              <a:rPr lang="de-CH" sz="3600" err="1">
                <a:latin typeface="Arvo" panose="02000000000000000000" pitchFamily="2" charset="0"/>
              </a:rPr>
              <a:t>with</a:t>
            </a:r>
            <a:r>
              <a:rPr lang="de-CH" sz="3600">
                <a:latin typeface="Arvo" panose="02000000000000000000" pitchFamily="2" charset="0"/>
              </a:rPr>
              <a:t> Self-</a:t>
            </a:r>
            <a:r>
              <a:rPr lang="de-CH" sz="3600" err="1">
                <a:latin typeface="Arvo" panose="02000000000000000000" pitchFamily="2" charset="0"/>
              </a:rPr>
              <a:t>Supervised</a:t>
            </a:r>
            <a:r>
              <a:rPr lang="de-CH" sz="3600">
                <a:latin typeface="Arvo" panose="02000000000000000000" pitchFamily="2" charset="0"/>
              </a:rPr>
              <a:t> Learning</a:t>
            </a: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8137089-50F6-4EF6-9F4D-6BB5E4883F5A}"/>
              </a:ext>
            </a:extLst>
          </p:cNvPr>
          <p:cNvSpPr/>
          <p:nvPr/>
        </p:nvSpPr>
        <p:spPr>
          <a:xfrm>
            <a:off x="742700" y="4220216"/>
            <a:ext cx="3743184" cy="396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5" name="Grafik 4" descr="Ein Bild, das Roboter, Cartoon, Spielzeug, Maschine enthält.&#10;&#10;Automatisch generierte Beschreibung">
            <a:extLst>
              <a:ext uri="{FF2B5EF4-FFF2-40B4-BE49-F238E27FC236}">
                <a16:creationId xmlns:a16="http://schemas.microsoft.com/office/drawing/2014/main" id="{891016FB-635A-4827-B53A-854863073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A6641788-0FA0-461E-97F6-5D0A8D56E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603" y="5405718"/>
            <a:ext cx="5160079" cy="1176560"/>
          </a:xfrm>
        </p:spPr>
        <p:txBody>
          <a:bodyPr>
            <a:normAutofit/>
          </a:bodyPr>
          <a:lstStyle/>
          <a:p>
            <a:pPr algn="l"/>
            <a:r>
              <a:rPr lang="de-CH" sz="2000">
                <a:latin typeface="Arvo" panose="02000000000000000000" pitchFamily="2" charset="0"/>
              </a:rPr>
              <a:t>Book Club:</a:t>
            </a:r>
            <a:br>
              <a:rPr lang="de-CH" sz="2000">
                <a:latin typeface="Arvo" panose="02000000000000000000" pitchFamily="2" charset="0"/>
              </a:rPr>
            </a:br>
            <a:r>
              <a:rPr lang="de-CH" sz="2000">
                <a:latin typeface="Arvo" panose="02000000000000000000" pitchFamily="2" charset="0"/>
              </a:rPr>
              <a:t>Christoph Walser, </a:t>
            </a:r>
            <a:r>
              <a:rPr lang="de-CH" sz="2000" err="1">
                <a:latin typeface="Arvo" panose="02000000000000000000" pitchFamily="2" charset="0"/>
              </a:rPr>
              <a:t>Kaloyan</a:t>
            </a:r>
            <a:r>
              <a:rPr lang="de-CH" sz="2000">
                <a:latin typeface="Arvo" panose="02000000000000000000" pitchFamily="2" charset="0"/>
              </a:rPr>
              <a:t> Georgiev, Jeanot Zubler, Sven Leutenegger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48AEE0BE-2145-4D50-97B8-0FC75242F0F4}"/>
              </a:ext>
            </a:extLst>
          </p:cNvPr>
          <p:cNvSpPr txBox="1"/>
          <p:nvPr/>
        </p:nvSpPr>
        <p:spPr>
          <a:xfrm>
            <a:off x="444180" y="2217495"/>
            <a:ext cx="6084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CH" sz="2000">
                <a:latin typeface="Arvo" panose="02000000000000000000" pitchFamily="2" charset="0"/>
              </a:rPr>
              <a:t>TSM </a:t>
            </a:r>
            <a:r>
              <a:rPr lang="de-CH" sz="2000" err="1">
                <a:latin typeface="Arvo" panose="02000000000000000000" pitchFamily="2" charset="0"/>
              </a:rPr>
              <a:t>MachLeData</a:t>
            </a:r>
            <a:r>
              <a:rPr lang="de-CH" sz="2000">
                <a:latin typeface="Arvo" panose="02000000000000000000" pitchFamily="2" charset="0"/>
              </a:rPr>
              <a:t> – Spring 2026</a:t>
            </a:r>
          </a:p>
        </p:txBody>
      </p:sp>
    </p:spTree>
    <p:extLst>
      <p:ext uri="{BB962C8B-B14F-4D97-AF65-F5344CB8AC3E}">
        <p14:creationId xmlns:p14="http://schemas.microsoft.com/office/powerpoint/2010/main" val="3844605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B75666-A3F6-42C4-8184-0A4858579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de-CH">
                <a:latin typeface="Arvo" panose="02000000000000000000" pitchFamily="2" charset="0"/>
              </a:rPr>
              <a:t>Motivation</a:t>
            </a:r>
            <a:r>
              <a:rPr lang="de-CH" sz="4000">
                <a:latin typeface="Arvo" panose="02000000000000000000" pitchFamily="2" charset="0"/>
              </a:rPr>
              <a:t> &amp; Goal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126A16-7AFD-4D21-B68B-24D0DA77D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5843177" cy="372903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CH" sz="2400">
                <a:latin typeface="Arvo"/>
              </a:rPr>
              <a:t>2-4 Million </a:t>
            </a:r>
            <a:r>
              <a:rPr lang="de-CH" sz="2400" err="1">
                <a:latin typeface="Arvo"/>
              </a:rPr>
              <a:t>books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published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each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year</a:t>
            </a:r>
            <a:endParaRPr lang="de-CH" sz="2400">
              <a:latin typeface="Arvo"/>
            </a:endParaRPr>
          </a:p>
          <a:p>
            <a:r>
              <a:rPr lang="de-CH" sz="2400" err="1">
                <a:latin typeface="Arvo"/>
              </a:rPr>
              <a:t>To</a:t>
            </a:r>
            <a:r>
              <a:rPr lang="de-CH" sz="2400">
                <a:latin typeface="Arvo"/>
              </a:rPr>
              <a:t> find </a:t>
            </a:r>
            <a:r>
              <a:rPr lang="de-CH" sz="2400" err="1">
                <a:latin typeface="Arvo"/>
              </a:rPr>
              <a:t>the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gems</a:t>
            </a:r>
            <a:r>
              <a:rPr lang="de-CH" sz="2400">
                <a:latin typeface="Arvo"/>
              </a:rPr>
              <a:t> in </a:t>
            </a:r>
            <a:r>
              <a:rPr lang="de-CH" sz="2400" err="1">
                <a:latin typeface="Arvo"/>
              </a:rPr>
              <a:t>this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sea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of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books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is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very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hard</a:t>
            </a:r>
            <a:endParaRPr lang="de-CH" sz="2400">
              <a:latin typeface="Arvo"/>
            </a:endParaRPr>
          </a:p>
          <a:p>
            <a:r>
              <a:rPr lang="de-CH" sz="2400" b="1" err="1">
                <a:latin typeface="Arvo"/>
              </a:rPr>
              <a:t>Our</a:t>
            </a:r>
            <a:r>
              <a:rPr lang="de-CH" sz="2400" b="1">
                <a:latin typeface="Arvo"/>
              </a:rPr>
              <a:t> Goal: </a:t>
            </a:r>
            <a:br>
              <a:rPr lang="de-CH" sz="2400">
                <a:latin typeface="Arvo"/>
              </a:rPr>
            </a:br>
            <a:r>
              <a:rPr lang="de-CH" sz="2400">
                <a:latin typeface="Arvo"/>
              </a:rPr>
              <a:t>Create a </a:t>
            </a:r>
            <a:r>
              <a:rPr lang="de-CH" sz="2400" err="1">
                <a:latin typeface="Arvo"/>
              </a:rPr>
              <a:t>highly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personalized</a:t>
            </a:r>
            <a:r>
              <a:rPr lang="de-CH" sz="2400">
                <a:latin typeface="Arvo"/>
              </a:rPr>
              <a:t>, </a:t>
            </a:r>
            <a:r>
              <a:rPr lang="de-CH" sz="2400" err="1">
                <a:latin typeface="Arvo"/>
              </a:rPr>
              <a:t>data-driven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book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recommendation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system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using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self-supervised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learning</a:t>
            </a:r>
            <a:r>
              <a:rPr lang="de-CH" sz="2400">
                <a:latin typeface="Arvo"/>
              </a:rPr>
              <a:t>.</a:t>
            </a:r>
            <a:endParaRPr lang="de-CH" sz="2400">
              <a:latin typeface="Arvo" panose="02000000000000000000" pitchFamily="2" charset="0"/>
            </a:endParaRPr>
          </a:p>
          <a:p>
            <a:endParaRPr lang="de-CH" sz="2400">
              <a:latin typeface="Arvo" panose="02000000000000000000" pitchFamily="2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AA0D9FE-860E-12C4-72FD-0AA58D19F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8857" y="0"/>
            <a:ext cx="3429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Keine Fotobeschreibung verfügbar.">
            <a:extLst>
              <a:ext uri="{FF2B5EF4-FFF2-40B4-BE49-F238E27FC236}">
                <a16:creationId xmlns:a16="http://schemas.microsoft.com/office/drawing/2014/main" id="{9B4B0ABF-2DAB-89B3-E37F-D2BACC7C8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9857" y="0"/>
            <a:ext cx="3429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1992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30BF27-CACD-4095-ACF9-68E3EBC42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>
                <a:latin typeface="Arvo" panose="02000000000000000000" pitchFamily="2" charset="0"/>
              </a:rPr>
              <a:t>Achieving</a:t>
            </a:r>
            <a:r>
              <a:rPr lang="de-DE">
                <a:latin typeface="Arvo" panose="02000000000000000000" pitchFamily="2" charset="0"/>
              </a:rPr>
              <a:t> </a:t>
            </a:r>
            <a:r>
              <a:rPr lang="de-DE" err="1">
                <a:latin typeface="Arvo" panose="02000000000000000000" pitchFamily="2" charset="0"/>
              </a:rPr>
              <a:t>good</a:t>
            </a:r>
            <a:r>
              <a:rPr lang="de-DE">
                <a:latin typeface="Arvo" panose="02000000000000000000" pitchFamily="2" charset="0"/>
              </a:rPr>
              <a:t> </a:t>
            </a:r>
            <a:r>
              <a:rPr lang="de-DE" err="1">
                <a:latin typeface="Arvo" panose="02000000000000000000" pitchFamily="2" charset="0"/>
              </a:rPr>
              <a:t>Recommendations</a:t>
            </a:r>
            <a:endParaRPr lang="de-DE">
              <a:latin typeface="Arvo" panose="02000000000000000000" pitchFamily="2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EF714A-AEA8-C123-69B1-1CB88CECC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2697"/>
            <a:ext cx="10515600" cy="4351338"/>
          </a:xfrm>
        </p:spPr>
        <p:txBody>
          <a:bodyPr>
            <a:normAutofit/>
          </a:bodyPr>
          <a:lstStyle/>
          <a:p>
            <a:r>
              <a:rPr lang="de-CH" sz="2400">
                <a:latin typeface="Arvo" panose="02000000000000000000" pitchFamily="2" charset="0"/>
              </a:rPr>
              <a:t>Use </a:t>
            </a:r>
            <a:r>
              <a:rPr lang="de-CH" sz="2400" err="1">
                <a:latin typeface="Arvo" panose="02000000000000000000" pitchFamily="2" charset="0"/>
              </a:rPr>
              <a:t>dataset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from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>
                <a:latin typeface="Arvo" panose="02000000000000000000" pitchFamily="2" charset="0"/>
                <a:hlinkClick r:id="rId2"/>
              </a:rPr>
              <a:t>https://github.com/zygmuntz/goodbooks-10k</a:t>
            </a:r>
            <a:endParaRPr lang="de-CH" sz="2400">
              <a:latin typeface="Arvo" panose="02000000000000000000" pitchFamily="2" charset="0"/>
            </a:endParaRPr>
          </a:p>
          <a:p>
            <a:pPr lvl="1"/>
            <a:r>
              <a:rPr lang="de-CH">
                <a:latin typeface="Arvo" panose="02000000000000000000" pitchFamily="2" charset="0"/>
              </a:rPr>
              <a:t>10000 </a:t>
            </a:r>
            <a:r>
              <a:rPr lang="de-CH" err="1">
                <a:latin typeface="Arvo" panose="02000000000000000000" pitchFamily="2" charset="0"/>
              </a:rPr>
              <a:t>books</a:t>
            </a:r>
            <a:r>
              <a:rPr lang="de-CH">
                <a:latin typeface="Arvo" panose="02000000000000000000" pitchFamily="2" charset="0"/>
              </a:rPr>
              <a:t> </a:t>
            </a:r>
            <a:r>
              <a:rPr lang="de-CH" err="1">
                <a:latin typeface="Arvo" panose="02000000000000000000" pitchFamily="2" charset="0"/>
              </a:rPr>
              <a:t>most</a:t>
            </a:r>
            <a:r>
              <a:rPr lang="de-CH">
                <a:latin typeface="Arvo" panose="02000000000000000000" pitchFamily="2" charset="0"/>
              </a:rPr>
              <a:t> </a:t>
            </a:r>
            <a:r>
              <a:rPr lang="de-CH" err="1">
                <a:latin typeface="Arvo" panose="02000000000000000000" pitchFamily="2" charset="0"/>
              </a:rPr>
              <a:t>popular</a:t>
            </a:r>
            <a:r>
              <a:rPr lang="de-CH">
                <a:latin typeface="Arvo" panose="02000000000000000000" pitchFamily="2" charset="0"/>
              </a:rPr>
              <a:t> </a:t>
            </a:r>
            <a:r>
              <a:rPr lang="de-CH" err="1">
                <a:latin typeface="Arvo" panose="02000000000000000000" pitchFamily="2" charset="0"/>
              </a:rPr>
              <a:t>books</a:t>
            </a:r>
            <a:r>
              <a:rPr lang="de-CH">
                <a:latin typeface="Arvo" panose="02000000000000000000" pitchFamily="2" charset="0"/>
              </a:rPr>
              <a:t> on </a:t>
            </a:r>
            <a:r>
              <a:rPr lang="de-CH" err="1">
                <a:latin typeface="Arvo" panose="02000000000000000000" pitchFamily="2" charset="0"/>
              </a:rPr>
              <a:t>goodreads.com</a:t>
            </a:r>
            <a:endParaRPr lang="de-CH">
              <a:latin typeface="Arvo" panose="02000000000000000000" pitchFamily="2" charset="0"/>
            </a:endParaRPr>
          </a:p>
          <a:p>
            <a:pPr lvl="1"/>
            <a:r>
              <a:rPr lang="de-CH">
                <a:latin typeface="Arvo" panose="02000000000000000000" pitchFamily="2" charset="0"/>
              </a:rPr>
              <a:t>~6 Million </a:t>
            </a:r>
            <a:r>
              <a:rPr lang="de-CH" err="1">
                <a:latin typeface="Arvo" panose="02000000000000000000" pitchFamily="2" charset="0"/>
              </a:rPr>
              <a:t>ratings</a:t>
            </a:r>
            <a:r>
              <a:rPr lang="de-CH">
                <a:latin typeface="Arvo" panose="02000000000000000000" pitchFamily="2" charset="0"/>
              </a:rPr>
              <a:t> </a:t>
            </a:r>
            <a:r>
              <a:rPr lang="de-CH" err="1">
                <a:latin typeface="Arvo" panose="02000000000000000000" pitchFamily="2" charset="0"/>
              </a:rPr>
              <a:t>by</a:t>
            </a:r>
            <a:r>
              <a:rPr lang="de-CH">
                <a:latin typeface="Arvo" panose="02000000000000000000" pitchFamily="2" charset="0"/>
              </a:rPr>
              <a:t> 50000 </a:t>
            </a:r>
            <a:r>
              <a:rPr lang="de-CH" err="1">
                <a:latin typeface="Arvo" panose="02000000000000000000" pitchFamily="2" charset="0"/>
              </a:rPr>
              <a:t>users</a:t>
            </a:r>
            <a:endParaRPr lang="de-CH">
              <a:latin typeface="Arvo" panose="02000000000000000000" pitchFamily="2" charset="0"/>
            </a:endParaRPr>
          </a:p>
          <a:p>
            <a:pPr lvl="1"/>
            <a:r>
              <a:rPr lang="de-CH">
                <a:latin typeface="Arvo" panose="02000000000000000000" pitchFamily="2" charset="0"/>
              </a:rPr>
              <a:t>Books </a:t>
            </a:r>
            <a:r>
              <a:rPr lang="de-CH" err="1">
                <a:latin typeface="Arvo" panose="02000000000000000000" pitchFamily="2" charset="0"/>
              </a:rPr>
              <a:t>marked</a:t>
            </a:r>
            <a:r>
              <a:rPr lang="de-CH">
                <a:latin typeface="Arvo" panose="02000000000000000000" pitchFamily="2" charset="0"/>
              </a:rPr>
              <a:t> </a:t>
            </a:r>
            <a:r>
              <a:rPr lang="de-CH" err="1">
                <a:latin typeface="Arvo" panose="02000000000000000000" pitchFamily="2" charset="0"/>
              </a:rPr>
              <a:t>as</a:t>
            </a:r>
            <a:r>
              <a:rPr lang="de-CH">
                <a:latin typeface="Arvo" panose="02000000000000000000" pitchFamily="2" charset="0"/>
              </a:rPr>
              <a:t> «</a:t>
            </a:r>
            <a:r>
              <a:rPr lang="de-CH" err="1">
                <a:latin typeface="Arvo" panose="02000000000000000000" pitchFamily="2" charset="0"/>
              </a:rPr>
              <a:t>to</a:t>
            </a:r>
            <a:r>
              <a:rPr lang="de-CH">
                <a:latin typeface="Arvo" panose="02000000000000000000" pitchFamily="2" charset="0"/>
              </a:rPr>
              <a:t> </a:t>
            </a:r>
            <a:r>
              <a:rPr lang="de-CH" err="1">
                <a:latin typeface="Arvo" panose="02000000000000000000" pitchFamily="2" charset="0"/>
              </a:rPr>
              <a:t>be</a:t>
            </a:r>
            <a:r>
              <a:rPr lang="de-CH">
                <a:latin typeface="Arvo" panose="02000000000000000000" pitchFamily="2" charset="0"/>
              </a:rPr>
              <a:t> </a:t>
            </a:r>
            <a:r>
              <a:rPr lang="de-CH" err="1">
                <a:latin typeface="Arvo" panose="02000000000000000000" pitchFamily="2" charset="0"/>
              </a:rPr>
              <a:t>read</a:t>
            </a:r>
            <a:r>
              <a:rPr lang="de-CH">
                <a:latin typeface="Arvo" panose="02000000000000000000" pitchFamily="2" charset="0"/>
              </a:rPr>
              <a:t>» </a:t>
            </a:r>
            <a:r>
              <a:rPr lang="de-CH" err="1">
                <a:latin typeface="Arvo" panose="02000000000000000000" pitchFamily="2" charset="0"/>
              </a:rPr>
              <a:t>by</a:t>
            </a:r>
            <a:r>
              <a:rPr lang="de-CH">
                <a:latin typeface="Arvo" panose="02000000000000000000" pitchFamily="2" charset="0"/>
              </a:rPr>
              <a:t> </a:t>
            </a:r>
            <a:r>
              <a:rPr lang="de-CH" err="1">
                <a:latin typeface="Arvo" panose="02000000000000000000" pitchFamily="2" charset="0"/>
              </a:rPr>
              <a:t>users</a:t>
            </a:r>
            <a:endParaRPr lang="de-CH">
              <a:latin typeface="Arvo" panose="02000000000000000000" pitchFamily="2" charset="0"/>
            </a:endParaRPr>
          </a:p>
          <a:p>
            <a:pPr lvl="1"/>
            <a:endParaRPr lang="de-CH">
              <a:latin typeface="Arvo" panose="02000000000000000000" pitchFamily="2" charset="0"/>
            </a:endParaRPr>
          </a:p>
          <a:p>
            <a:r>
              <a:rPr lang="de-CH" sz="2400">
                <a:latin typeface="Arvo" panose="02000000000000000000" pitchFamily="2" charset="0"/>
              </a:rPr>
              <a:t>Generate </a:t>
            </a:r>
            <a:r>
              <a:rPr lang="de-CH" sz="2400" err="1">
                <a:latin typeface="Arvo" panose="02000000000000000000" pitchFamily="2" charset="0"/>
              </a:rPr>
              <a:t>labels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by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excluding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some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of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the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ratings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for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each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user</a:t>
            </a:r>
            <a:endParaRPr lang="de-CH" sz="2400">
              <a:latin typeface="Arvo" panose="02000000000000000000" pitchFamily="2" charset="0"/>
            </a:endParaRPr>
          </a:p>
          <a:p>
            <a:endParaRPr lang="de-DE" sz="2400"/>
          </a:p>
        </p:txBody>
      </p:sp>
      <p:pic>
        <p:nvPicPr>
          <p:cNvPr id="2050" name="Picture 2" descr="Goodreads Popular and Trending Books">
            <a:extLst>
              <a:ext uri="{FF2B5EF4-FFF2-40B4-BE49-F238E27FC236}">
                <a16:creationId xmlns:a16="http://schemas.microsoft.com/office/drawing/2014/main" id="{FA5AB240-7EBD-78BF-C998-159BCD776C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72"/>
          <a:stretch>
            <a:fillRect/>
          </a:stretch>
        </p:blipFill>
        <p:spPr bwMode="auto">
          <a:xfrm>
            <a:off x="1266556" y="4428565"/>
            <a:ext cx="9658887" cy="242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8986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F4CB36C-FA74-BE87-BB2A-2F34A45B9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ctr">
            <a:normAutofit/>
          </a:bodyPr>
          <a:lstStyle/>
          <a:p>
            <a:r>
              <a:rPr lang="de-DE">
                <a:latin typeface="Arvo" panose="02000000000000000000" pitchFamily="2" charset="0"/>
              </a:rPr>
              <a:t>Mockup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8E5492-FE9F-6308-BBD6-EE430EC1A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endParaRPr lang="de-DE" sz="220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0EA42CA-FFE1-31AD-6EAF-1371028E6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848" y="420483"/>
            <a:ext cx="7640677" cy="6017033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DE98A1D1-260F-4B8F-AC03-36015B27D1FF}"/>
              </a:ext>
            </a:extLst>
          </p:cNvPr>
          <p:cNvSpPr/>
          <p:nvPr/>
        </p:nvSpPr>
        <p:spPr>
          <a:xfrm>
            <a:off x="399208" y="2519813"/>
            <a:ext cx="3743184" cy="396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97611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5F7899-D438-4521-AF87-99C6F6344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445" y="365125"/>
            <a:ext cx="10515600" cy="1325563"/>
          </a:xfrm>
        </p:spPr>
        <p:txBody>
          <a:bodyPr/>
          <a:lstStyle/>
          <a:p>
            <a:r>
              <a:rPr lang="de-CH">
                <a:latin typeface="Arvo" panose="02000000000000000000" pitchFamily="2" charset="0"/>
              </a:rPr>
              <a:t>Technologies</a:t>
            </a:r>
          </a:p>
        </p:txBody>
      </p:sp>
      <p:graphicFrame>
        <p:nvGraphicFramePr>
          <p:cNvPr id="4" name="Tabelle 4">
            <a:extLst>
              <a:ext uri="{FF2B5EF4-FFF2-40B4-BE49-F238E27FC236}">
                <a16:creationId xmlns:a16="http://schemas.microsoft.com/office/drawing/2014/main" id="{7D5FE64E-1550-4E3D-B060-C4FD527183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163967"/>
              </p:ext>
            </p:extLst>
          </p:nvPr>
        </p:nvGraphicFramePr>
        <p:xfrm>
          <a:off x="877445" y="1589255"/>
          <a:ext cx="10515600" cy="471502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3994831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05455247"/>
                    </a:ext>
                  </a:extLst>
                </a:gridCol>
              </a:tblGrid>
              <a:tr h="673575">
                <a:tc>
                  <a:txBody>
                    <a:bodyPr/>
                    <a:lstStyle/>
                    <a:p>
                      <a:pPr lvl="0"/>
                      <a:r>
                        <a:rPr lang="de-CH" sz="2400">
                          <a:latin typeface="Arvo" panose="02000000000000000000" pitchFamily="2" charset="0"/>
                        </a:rPr>
                        <a:t>Task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de-CH" sz="2400">
                          <a:latin typeface="Arvo" panose="02000000000000000000" pitchFamily="2" charset="0"/>
                        </a:rPr>
                        <a:t>Tools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18978937"/>
                  </a:ext>
                </a:extLst>
              </a:tr>
              <a:tr h="673575">
                <a:tc>
                  <a:txBody>
                    <a:bodyPr/>
                    <a:lstStyle/>
                    <a:p>
                      <a:pPr lvl="0"/>
                      <a:r>
                        <a:rPr lang="de-CH" sz="2400" err="1">
                          <a:latin typeface="Arvo"/>
                        </a:rPr>
                        <a:t>Versioning</a:t>
                      </a:r>
                      <a:r>
                        <a:rPr lang="de-CH" sz="2400">
                          <a:latin typeface="Arvo"/>
                        </a:rPr>
                        <a:t> (</a:t>
                      </a:r>
                      <a:r>
                        <a:rPr lang="de-CH" sz="2400" err="1">
                          <a:latin typeface="Arvo"/>
                        </a:rPr>
                        <a:t>data</a:t>
                      </a:r>
                      <a:r>
                        <a:rPr lang="de-CH" sz="2400">
                          <a:latin typeface="Arvo"/>
                        </a:rPr>
                        <a:t>, </a:t>
                      </a:r>
                      <a:r>
                        <a:rPr lang="de-CH" sz="2400" err="1">
                          <a:latin typeface="Arvo"/>
                        </a:rPr>
                        <a:t>model</a:t>
                      </a:r>
                      <a:r>
                        <a:rPr lang="de-CH" sz="2400">
                          <a:latin typeface="Arvo"/>
                        </a:rPr>
                        <a:t> &amp; code)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/>
                      <a:endParaRPr lang="de-CH" sz="2400">
                        <a:latin typeface="Arv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4105298"/>
                  </a:ext>
                </a:extLst>
              </a:tr>
              <a:tr h="673575">
                <a:tc>
                  <a:txBody>
                    <a:bodyPr/>
                    <a:lstStyle/>
                    <a:p>
                      <a:pPr lvl="0"/>
                      <a:r>
                        <a:rPr lang="de-CH" sz="2400">
                          <a:latin typeface="Arvo"/>
                        </a:rPr>
                        <a:t>Containerization</a:t>
                      </a:r>
                      <a:endParaRPr lang="de-CH" sz="2400" err="1">
                        <a:latin typeface="Arvo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/>
                      <a:endParaRPr lang="de-CH" sz="2400">
                        <a:latin typeface="Arv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97550696"/>
                  </a:ext>
                </a:extLst>
              </a:tr>
              <a:tr h="673575">
                <a:tc>
                  <a:txBody>
                    <a:bodyPr/>
                    <a:lstStyle/>
                    <a:p>
                      <a:pPr lvl="0"/>
                      <a:r>
                        <a:rPr lang="de-CH" sz="2400">
                          <a:latin typeface="Arvo"/>
                        </a:rPr>
                        <a:t>Experiment </a:t>
                      </a:r>
                      <a:r>
                        <a:rPr lang="de-CH" sz="2400" err="1">
                          <a:latin typeface="Arvo"/>
                        </a:rPr>
                        <a:t>tracking</a:t>
                      </a:r>
                      <a:r>
                        <a:rPr lang="de-CH" sz="2400">
                          <a:latin typeface="Arvo"/>
                        </a:rPr>
                        <a:t> &amp; </a:t>
                      </a:r>
                      <a:r>
                        <a:rPr lang="de-CH" sz="2400" err="1">
                          <a:latin typeface="Arvo"/>
                        </a:rPr>
                        <a:t>tuning</a:t>
                      </a:r>
                      <a:endParaRPr lang="de-CH" sz="2400">
                        <a:latin typeface="Arvo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/>
                      <a:endParaRPr lang="de-CH" sz="2400">
                        <a:latin typeface="Arv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28423102"/>
                  </a:ext>
                </a:extLst>
              </a:tr>
              <a:tr h="673575">
                <a:tc>
                  <a:txBody>
                    <a:bodyPr/>
                    <a:lstStyle/>
                    <a:p>
                      <a:pPr lvl="0"/>
                      <a:r>
                        <a:rPr lang="de-CH" sz="2400">
                          <a:latin typeface="Arvo" panose="02000000000000000000" pitchFamily="2" charset="0"/>
                        </a:rPr>
                        <a:t>Training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/>
                      <a:endParaRPr lang="de-CH" sz="2400">
                        <a:latin typeface="Arv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31202854"/>
                  </a:ext>
                </a:extLst>
              </a:tr>
              <a:tr h="673575">
                <a:tc>
                  <a:txBody>
                    <a:bodyPr/>
                    <a:lstStyle/>
                    <a:p>
                      <a:pPr lvl="0"/>
                      <a:r>
                        <a:rPr lang="de-CH" sz="2400">
                          <a:latin typeface="Arvo"/>
                        </a:rPr>
                        <a:t>CI/CD &amp; </a:t>
                      </a:r>
                      <a:r>
                        <a:rPr lang="de-CH" sz="2400" err="1">
                          <a:latin typeface="Arvo"/>
                        </a:rPr>
                        <a:t>testing</a:t>
                      </a:r>
                      <a:endParaRPr lang="de-CH" sz="2400">
                        <a:latin typeface="Arvo" panose="020000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/>
                      <a:endParaRPr lang="de-CH" sz="2400">
                        <a:latin typeface="Arv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65003328"/>
                  </a:ext>
                </a:extLst>
              </a:tr>
              <a:tr h="673575">
                <a:tc>
                  <a:txBody>
                    <a:bodyPr/>
                    <a:lstStyle/>
                    <a:p>
                      <a:pPr lvl="0"/>
                      <a:r>
                        <a:rPr lang="de-CH" sz="2400" err="1">
                          <a:latin typeface="Arvo" panose="02000000000000000000" pitchFamily="2" charset="0"/>
                        </a:rPr>
                        <a:t>Deployment</a:t>
                      </a:r>
                      <a:endParaRPr lang="de-CH" sz="2400">
                        <a:latin typeface="Arvo" panose="020000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/>
                      <a:endParaRPr lang="de-CH" sz="2400">
                        <a:latin typeface="Arv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60424453"/>
                  </a:ext>
                </a:extLst>
              </a:tr>
            </a:tbl>
          </a:graphicData>
        </a:graphic>
      </p:graphicFrame>
      <p:pic>
        <p:nvPicPr>
          <p:cNvPr id="23" name="Grafik 22" descr="Ein Bild, das Grafiken, Grafikdesign, Schrift, Logo enthält.&#10;&#10;Automatisch generierte Beschreibung">
            <a:extLst>
              <a:ext uri="{FF2B5EF4-FFF2-40B4-BE49-F238E27FC236}">
                <a16:creationId xmlns:a16="http://schemas.microsoft.com/office/drawing/2014/main" id="{D9423ACB-41C3-4ABB-8F99-91E0755FC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228" y="2216287"/>
            <a:ext cx="737524" cy="737524"/>
          </a:xfrm>
          <a:prstGeom prst="rect">
            <a:avLst/>
          </a:prstGeom>
        </p:spPr>
      </p:pic>
      <p:pic>
        <p:nvPicPr>
          <p:cNvPr id="24" name="Grafik 23" descr="Ein Bild, das Grafiken, Schrift, Logo, Symbol enthält.&#10;&#10;Automatisch generierte Beschreibung">
            <a:extLst>
              <a:ext uri="{FF2B5EF4-FFF2-40B4-BE49-F238E27FC236}">
                <a16:creationId xmlns:a16="http://schemas.microsoft.com/office/drawing/2014/main" id="{5516687A-3125-49A1-8606-C4668FD6B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245" y="2297035"/>
            <a:ext cx="2172397" cy="678874"/>
          </a:xfrm>
          <a:prstGeom prst="rect">
            <a:avLst/>
          </a:prstGeom>
        </p:spPr>
      </p:pic>
      <p:pic>
        <p:nvPicPr>
          <p:cNvPr id="25" name="Grafik 24" descr="Ein Bild, das Schrift, Grafiken, Grafikdesign, Logo enthält.&#10;&#10;Automatisch generierte Beschreibung">
            <a:extLst>
              <a:ext uri="{FF2B5EF4-FFF2-40B4-BE49-F238E27FC236}">
                <a16:creationId xmlns:a16="http://schemas.microsoft.com/office/drawing/2014/main" id="{AE41CCD3-9F67-4E2E-AB84-3AD823B92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559" y="3005079"/>
            <a:ext cx="2211156" cy="504420"/>
          </a:xfrm>
          <a:prstGeom prst="rect">
            <a:avLst/>
          </a:prstGeom>
        </p:spPr>
      </p:pic>
      <p:pic>
        <p:nvPicPr>
          <p:cNvPr id="27" name="Grafik 26" descr="Ein Bild, das Schrift, Grafiken, Text, Logo enthält.&#10;&#10;Automatisch generierte Beschreibung">
            <a:extLst>
              <a:ext uri="{FF2B5EF4-FFF2-40B4-BE49-F238E27FC236}">
                <a16:creationId xmlns:a16="http://schemas.microsoft.com/office/drawing/2014/main" id="{0C748067-8738-4E89-8786-FF1B5CA170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740" y="4391940"/>
            <a:ext cx="1831486" cy="452112"/>
          </a:xfrm>
          <a:prstGeom prst="rect">
            <a:avLst/>
          </a:prstGeom>
        </p:spPr>
      </p:pic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DC8F6974-7EAB-411E-91C9-51F899C904ED}"/>
              </a:ext>
            </a:extLst>
          </p:cNvPr>
          <p:cNvGrpSpPr/>
          <p:nvPr/>
        </p:nvGrpSpPr>
        <p:grpSpPr>
          <a:xfrm>
            <a:off x="6263228" y="5054637"/>
            <a:ext cx="2006795" cy="486664"/>
            <a:chOff x="6238588" y="5531341"/>
            <a:chExt cx="2316327" cy="561728"/>
          </a:xfrm>
        </p:grpSpPr>
        <p:pic>
          <p:nvPicPr>
            <p:cNvPr id="29" name="Picture 2" descr="GitHub Actions · GitHub">
              <a:extLst>
                <a:ext uri="{FF2B5EF4-FFF2-40B4-BE49-F238E27FC236}">
                  <a16:creationId xmlns:a16="http://schemas.microsoft.com/office/drawing/2014/main" id="{0D712B37-016A-4F45-8194-2370877E0B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8588" y="5531341"/>
              <a:ext cx="561728" cy="5617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4" descr="GitHub Actions: powering up your existing repos with build capabilities">
              <a:extLst>
                <a:ext uri="{FF2B5EF4-FFF2-40B4-BE49-F238E27FC236}">
                  <a16:creationId xmlns:a16="http://schemas.microsoft.com/office/drawing/2014/main" id="{908A1046-7D80-46BB-A049-9070825AFC2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37101" b="62899" l="32344" r="78594">
                          <a14:foregroundMark x1="32344" y1="53043" x2="32344" y2="53043"/>
                          <a14:foregroundMark x1="37109" y1="52464" x2="37109" y2="52464"/>
                          <a14:foregroundMark x1="37188" y1="44928" x2="37188" y2="44928"/>
                          <a14:foregroundMark x1="39922" y1="48406" x2="39922" y2="48406"/>
                          <a14:foregroundMark x1="46094" y1="52464" x2="46094" y2="52464"/>
                          <a14:foregroundMark x1="49531" y1="48406" x2="49531" y2="48406"/>
                          <a14:foregroundMark x1="56719" y1="48986" x2="56719" y2="48986"/>
                          <a14:foregroundMark x1="60000" y1="50725" x2="60000" y2="50725"/>
                          <a14:foregroundMark x1="63828" y1="49565" x2="63828" y2="49565"/>
                          <a14:foregroundMark x1="67656" y1="51884" x2="67656" y2="51884"/>
                          <a14:foregroundMark x1="67813" y1="45507" x2="67813" y2="45507"/>
                          <a14:foregroundMark x1="71875" y1="55072" x2="71875" y2="55072"/>
                          <a14:foregroundMark x1="73359" y1="53043" x2="73359" y2="53043"/>
                          <a14:foregroundMark x1="76953" y1="51014" x2="76953" y2="51014"/>
                          <a14:foregroundMark x1="78438" y1="57391" x2="78594" y2="57391"/>
                          <a14:foregroundMark x1="44688" y1="50145" x2="44688" y2="50145"/>
                          <a14:backgroundMark x1="57266" y1="52174" x2="57266" y2="5217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938" t="34749" r="18942" b="33288"/>
            <a:stretch/>
          </p:blipFill>
          <p:spPr bwMode="auto">
            <a:xfrm>
              <a:off x="6831089" y="5664053"/>
              <a:ext cx="1723826" cy="2963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F26637A9-147E-4C1C-A33A-B298D9B50B2F}"/>
              </a:ext>
            </a:extLst>
          </p:cNvPr>
          <p:cNvGrpSpPr/>
          <p:nvPr/>
        </p:nvGrpSpPr>
        <p:grpSpPr>
          <a:xfrm>
            <a:off x="8478715" y="5019813"/>
            <a:ext cx="1772312" cy="556311"/>
            <a:chOff x="3102503" y="-388817"/>
            <a:chExt cx="9089497" cy="2853105"/>
          </a:xfrm>
        </p:grpSpPr>
        <p:pic>
          <p:nvPicPr>
            <p:cNvPr id="32" name="Picture 6">
              <a:extLst>
                <a:ext uri="{FF2B5EF4-FFF2-40B4-BE49-F238E27FC236}">
                  <a16:creationId xmlns:a16="http://schemas.microsoft.com/office/drawing/2014/main" id="{58EB5563-8296-4452-8700-7745E76EAD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15" t="9321" r="31764" b="49077"/>
            <a:stretch/>
          </p:blipFill>
          <p:spPr bwMode="auto">
            <a:xfrm>
              <a:off x="3102503" y="-388817"/>
              <a:ext cx="2593731" cy="28531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8">
              <a:extLst>
                <a:ext uri="{FF2B5EF4-FFF2-40B4-BE49-F238E27FC236}">
                  <a16:creationId xmlns:a16="http://schemas.microsoft.com/office/drawing/2014/main" id="{6B80245E-1618-46CA-803B-EDA999C03D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519" b="14660"/>
            <a:stretch/>
          </p:blipFill>
          <p:spPr bwMode="auto">
            <a:xfrm>
              <a:off x="5334000" y="152324"/>
              <a:ext cx="6858000" cy="1770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Grafik 4" descr="Ein Bild, das Bernstein, gelb, Screenshot, Licht enthält.&#10;&#10;Automatisch generierte Beschreibung">
            <a:extLst>
              <a:ext uri="{FF2B5EF4-FFF2-40B4-BE49-F238E27FC236}">
                <a16:creationId xmlns:a16="http://schemas.microsoft.com/office/drawing/2014/main" id="{866BB522-A181-4D9E-B255-81A4F51774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3228" y="3712037"/>
            <a:ext cx="1765045" cy="452112"/>
          </a:xfrm>
          <a:prstGeom prst="rect">
            <a:avLst/>
          </a:prstGeom>
        </p:spPr>
      </p:pic>
      <p:pic>
        <p:nvPicPr>
          <p:cNvPr id="6" name="Grafik 5" descr="Ein Bild, das Schrift, Grafiken, Logo, Screenshot enthält.&#10;&#10;Automatisch generierte Beschreibung">
            <a:extLst>
              <a:ext uri="{FF2B5EF4-FFF2-40B4-BE49-F238E27FC236}">
                <a16:creationId xmlns:a16="http://schemas.microsoft.com/office/drawing/2014/main" id="{40AFF9C0-9760-46F7-8BD3-5E71B35BC81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2102" y="5426324"/>
            <a:ext cx="2827169" cy="1018775"/>
          </a:xfrm>
          <a:prstGeom prst="rect">
            <a:avLst/>
          </a:prstGeom>
        </p:spPr>
      </p:pic>
      <p:pic>
        <p:nvPicPr>
          <p:cNvPr id="8" name="Grafik 7" descr="Ein Bild, das Grafiken, Schrift, Grafikdesign, Design enthält.&#10;&#10;Automatisch generierte Beschreibung">
            <a:extLst>
              <a:ext uri="{FF2B5EF4-FFF2-40B4-BE49-F238E27FC236}">
                <a16:creationId xmlns:a16="http://schemas.microsoft.com/office/drawing/2014/main" id="{93BC0BCE-8509-4CFF-B2DB-656B7320995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8715" y="5619086"/>
            <a:ext cx="2367951" cy="65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574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8F618DA-8A84-58F6-F625-06678AA84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39520"/>
            <a:ext cx="3743183" cy="1719072"/>
          </a:xfrm>
        </p:spPr>
        <p:txBody>
          <a:bodyPr anchor="ctr">
            <a:noAutofit/>
          </a:bodyPr>
          <a:lstStyle/>
          <a:p>
            <a:r>
              <a:rPr lang="de-DE">
                <a:latin typeface="Arvo" panose="02000000000000000000" pitchFamily="2" charset="0"/>
              </a:rPr>
              <a:t>System Architecture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9FEA032-17D4-367A-D65C-710DF8AD0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endParaRPr lang="en-US" sz="2200"/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9D0D609A-17A4-B1D1-FCC8-E7449076C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639" y="368759"/>
            <a:ext cx="7691254" cy="594149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06CE1F4C-D08B-4B0F-974A-EE978852DEEC}"/>
              </a:ext>
            </a:extLst>
          </p:cNvPr>
          <p:cNvSpPr/>
          <p:nvPr/>
        </p:nvSpPr>
        <p:spPr>
          <a:xfrm>
            <a:off x="399233" y="2463830"/>
            <a:ext cx="3743184" cy="396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97493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CB1A05-1E59-416C-816D-F89682EA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err="1">
                <a:latin typeface="Arvo" panose="02000000000000000000" pitchFamily="2" charset="0"/>
              </a:rPr>
              <a:t>Versioning</a:t>
            </a:r>
            <a:endParaRPr lang="de-CH">
              <a:latin typeface="Arvo" panose="02000000000000000000" pitchFamily="2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FFE43D-A25E-4093-89F4-44F253590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de-CH" sz="2400">
                <a:latin typeface="Arvo" panose="02000000000000000000" pitchFamily="2" charset="0"/>
              </a:rPr>
              <a:t>Code </a:t>
            </a:r>
            <a:r>
              <a:rPr lang="de-CH" sz="2400" err="1">
                <a:latin typeface="Arvo" panose="02000000000000000000" pitchFamily="2" charset="0"/>
              </a:rPr>
              <a:t>versioning</a:t>
            </a:r>
            <a:r>
              <a:rPr lang="de-CH" sz="2400">
                <a:latin typeface="Arvo" panose="02000000000000000000" pitchFamily="2" charset="0"/>
              </a:rPr>
              <a:t> in </a:t>
            </a:r>
            <a:r>
              <a:rPr lang="de-CH" sz="2400" err="1">
                <a:latin typeface="Arvo" panose="02000000000000000000" pitchFamily="2" charset="0"/>
              </a:rPr>
              <a:t>git</a:t>
            </a:r>
            <a:endParaRPr lang="de-CH" sz="2400">
              <a:latin typeface="Arvo" panose="02000000000000000000" pitchFamily="2" charset="0"/>
            </a:endParaRPr>
          </a:p>
          <a:p>
            <a:pPr marL="0" indent="0">
              <a:buNone/>
            </a:pPr>
            <a:endParaRPr lang="de-CH" sz="2400">
              <a:latin typeface="Arvo" panose="02000000000000000000" pitchFamily="2" charset="0"/>
            </a:endParaRPr>
          </a:p>
          <a:p>
            <a:r>
              <a:rPr lang="de-CH" sz="2400">
                <a:latin typeface="Arvo"/>
              </a:rPr>
              <a:t>Data and </a:t>
            </a:r>
            <a:r>
              <a:rPr lang="de-CH" sz="2400" err="1">
                <a:latin typeface="Arvo"/>
              </a:rPr>
              <a:t>model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versioning</a:t>
            </a:r>
            <a:r>
              <a:rPr lang="de-CH" sz="2400">
                <a:latin typeface="Arvo"/>
              </a:rPr>
              <a:t> &amp; </a:t>
            </a:r>
            <a:r>
              <a:rPr lang="de-CH" sz="2400" err="1">
                <a:latin typeface="Arvo"/>
              </a:rPr>
              <a:t>validation</a:t>
            </a:r>
            <a:r>
              <a:rPr lang="de-CH" sz="2400">
                <a:latin typeface="Arvo"/>
              </a:rPr>
              <a:t> in DVC</a:t>
            </a:r>
          </a:p>
          <a:p>
            <a:pPr marL="0" indent="0">
              <a:buNone/>
            </a:pPr>
            <a:endParaRPr lang="de-CH" sz="2400">
              <a:latin typeface="Arvo"/>
            </a:endParaRPr>
          </a:p>
          <a:p>
            <a:r>
              <a:rPr lang="de-CH" sz="2400">
                <a:latin typeface="Arvo"/>
              </a:rPr>
              <a:t>DVC </a:t>
            </a:r>
            <a:r>
              <a:rPr lang="de-CH" sz="2400" err="1">
                <a:latin typeface="Arvo"/>
              </a:rPr>
              <a:t>allows</a:t>
            </a:r>
            <a:r>
              <a:rPr lang="de-CH" sz="2400">
                <a:latin typeface="Arvo"/>
              </a:rPr>
              <a:t> fast </a:t>
            </a:r>
            <a:r>
              <a:rPr lang="de-CH" sz="2400" err="1">
                <a:latin typeface="Arvo"/>
              </a:rPr>
              <a:t>data</a:t>
            </a:r>
            <a:r>
              <a:rPr lang="de-CH" sz="2400">
                <a:latin typeface="Arvo"/>
              </a:rPr>
              <a:t> and ML </a:t>
            </a:r>
            <a:r>
              <a:rPr lang="de-CH" sz="2400" err="1">
                <a:latin typeface="Arvo"/>
              </a:rPr>
              <a:t>model</a:t>
            </a:r>
            <a:r>
              <a:rPr lang="de-CH" sz="2400">
                <a:latin typeface="Arvo"/>
              </a:rPr>
              <a:t> </a:t>
            </a:r>
            <a:r>
              <a:rPr lang="de-CH" sz="2400" err="1">
                <a:latin typeface="Arvo"/>
              </a:rPr>
              <a:t>access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through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built</a:t>
            </a:r>
            <a:r>
              <a:rPr lang="de-CH" sz="2400">
                <a:latin typeface="Arvo"/>
              </a:rPr>
              <a:t>-in </a:t>
            </a:r>
            <a:r>
              <a:rPr lang="de-CH" sz="2400" err="1">
                <a:latin typeface="Arvo"/>
              </a:rPr>
              <a:t>data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caching</a:t>
            </a:r>
            <a:endParaRPr lang="de-CH" sz="2400">
              <a:latin typeface="Arvo" panose="02000000000000000000" pitchFamily="2" charset="0"/>
            </a:endParaRPr>
          </a:p>
          <a:p>
            <a:endParaRPr lang="de-CH" sz="2400">
              <a:latin typeface="Arvo" panose="02000000000000000000" pitchFamily="2" charset="0"/>
            </a:endParaRPr>
          </a:p>
          <a:p>
            <a:r>
              <a:rPr lang="de-CH" sz="2400" err="1">
                <a:latin typeface="Arvo" panose="02000000000000000000" pitchFamily="2" charset="0"/>
              </a:rPr>
              <a:t>Allows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reproducibility</a:t>
            </a:r>
            <a:endParaRPr lang="de-CH" sz="2400">
              <a:latin typeface="Arvo" panose="02000000000000000000" pitchFamily="2" charset="0"/>
            </a:endParaRPr>
          </a:p>
          <a:p>
            <a:endParaRPr lang="de-CH" sz="2400">
              <a:latin typeface="Arvo" panose="02000000000000000000" pitchFamily="2" charset="0"/>
            </a:endParaRPr>
          </a:p>
          <a:p>
            <a:r>
              <a:rPr lang="de-CH" sz="2400" err="1">
                <a:latin typeface="Arvo" panose="02000000000000000000" pitchFamily="2" charset="0"/>
              </a:rPr>
              <a:t>Allows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collaboration</a:t>
            </a:r>
            <a:r>
              <a:rPr lang="de-CH" sz="2400">
                <a:latin typeface="Arvo" panose="02000000000000000000" pitchFamily="2" charset="0"/>
              </a:rPr>
              <a:t> and parallel feature </a:t>
            </a:r>
            <a:r>
              <a:rPr lang="de-CH" sz="2400" err="1">
                <a:latin typeface="Arvo" panose="02000000000000000000" pitchFamily="2" charset="0"/>
              </a:rPr>
              <a:t>development</a:t>
            </a:r>
            <a:endParaRPr lang="de-CH" sz="2400">
              <a:latin typeface="Arvo" panose="02000000000000000000" pitchFamily="2" charset="0"/>
            </a:endParaRPr>
          </a:p>
        </p:txBody>
      </p:sp>
      <p:pic>
        <p:nvPicPr>
          <p:cNvPr id="5" name="Grafik 4" descr="Ein Bild, das Grafiken, Grafikdesign, Schrift, Logo enthält.&#10;&#10;Automatisch generierte Beschreibung">
            <a:extLst>
              <a:ext uri="{FF2B5EF4-FFF2-40B4-BE49-F238E27FC236}">
                <a16:creationId xmlns:a16="http://schemas.microsoft.com/office/drawing/2014/main" id="{02238E58-9ED8-42BB-B855-36D219E8E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4714" y="398181"/>
            <a:ext cx="1292507" cy="1292507"/>
          </a:xfrm>
          <a:prstGeom prst="rect">
            <a:avLst/>
          </a:prstGeom>
        </p:spPr>
      </p:pic>
      <p:pic>
        <p:nvPicPr>
          <p:cNvPr id="6" name="Grafik 5" descr="Ein Bild, das Grafiken, Schrift, Logo, Symbol enthält.&#10;&#10;Automatisch generierte Beschreibung">
            <a:extLst>
              <a:ext uri="{FF2B5EF4-FFF2-40B4-BE49-F238E27FC236}">
                <a16:creationId xmlns:a16="http://schemas.microsoft.com/office/drawing/2014/main" id="{F1DCCA02-FDE2-4ACA-B578-1001EC1870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888" r="26285"/>
          <a:stretch/>
        </p:blipFill>
        <p:spPr>
          <a:xfrm>
            <a:off x="9471980" y="460561"/>
            <a:ext cx="1881820" cy="113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08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CB1A05-1E59-416C-816D-F89682EA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>
                <a:latin typeface="Arvo" panose="02000000000000000000" pitchFamily="2" charset="0"/>
              </a:rPr>
              <a:t>Training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FFE43D-A25E-4093-89F4-44F253590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CH" sz="2400">
                <a:latin typeface="Arvo" panose="02000000000000000000" pitchFamily="2" charset="0"/>
              </a:rPr>
              <a:t>Training and </a:t>
            </a:r>
            <a:r>
              <a:rPr lang="de-CH" sz="2400" err="1">
                <a:latin typeface="Arvo" panose="02000000000000000000" pitchFamily="2" charset="0"/>
              </a:rPr>
              <a:t>inference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with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PyTorch</a:t>
            </a:r>
            <a:endParaRPr lang="de-CH" sz="2400">
              <a:latin typeface="Arvo" panose="02000000000000000000" pitchFamily="2" charset="0"/>
            </a:endParaRPr>
          </a:p>
          <a:p>
            <a:endParaRPr lang="de-CH" sz="2400">
              <a:latin typeface="Arvo" panose="02000000000000000000" pitchFamily="2" charset="0"/>
            </a:endParaRPr>
          </a:p>
          <a:p>
            <a:r>
              <a:rPr lang="de-CH" sz="2400">
                <a:latin typeface="Arvo" panose="02000000000000000000" pitchFamily="2" charset="0"/>
              </a:rPr>
              <a:t>Track and </a:t>
            </a:r>
            <a:r>
              <a:rPr lang="de-CH" sz="2400" err="1">
                <a:latin typeface="Arvo" panose="02000000000000000000" pitchFamily="2" charset="0"/>
              </a:rPr>
              <a:t>visualize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experiments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with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Weights</a:t>
            </a:r>
            <a:r>
              <a:rPr lang="de-CH" sz="2400">
                <a:latin typeface="Arvo" panose="02000000000000000000" pitchFamily="2" charset="0"/>
              </a:rPr>
              <a:t> &amp; </a:t>
            </a:r>
            <a:r>
              <a:rPr lang="de-CH" sz="2400" err="1">
                <a:latin typeface="Arvo" panose="02000000000000000000" pitchFamily="2" charset="0"/>
              </a:rPr>
              <a:t>Biases</a:t>
            </a:r>
            <a:endParaRPr lang="de-CH" sz="2400">
              <a:latin typeface="Arvo" panose="02000000000000000000" pitchFamily="2" charset="0"/>
            </a:endParaRPr>
          </a:p>
          <a:p>
            <a:endParaRPr lang="de-CH" sz="2400">
              <a:latin typeface="Arvo" panose="02000000000000000000" pitchFamily="2" charset="0"/>
            </a:endParaRPr>
          </a:p>
          <a:p>
            <a:r>
              <a:rPr lang="de-CH" sz="2400">
                <a:latin typeface="Arvo" panose="02000000000000000000" pitchFamily="2" charset="0"/>
              </a:rPr>
              <a:t>Hyperparameter </a:t>
            </a:r>
            <a:r>
              <a:rPr lang="de-CH" sz="2400" err="1">
                <a:latin typeface="Arvo" panose="02000000000000000000" pitchFamily="2" charset="0"/>
              </a:rPr>
              <a:t>tuning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with</a:t>
            </a:r>
            <a:r>
              <a:rPr lang="de-CH" sz="2400">
                <a:latin typeface="Arvo" panose="02000000000000000000" pitchFamily="2" charset="0"/>
              </a:rPr>
              <a:t> W&amp;B</a:t>
            </a:r>
          </a:p>
        </p:txBody>
      </p:sp>
      <p:pic>
        <p:nvPicPr>
          <p:cNvPr id="5" name="Grafik 4" descr="Ein Bild, das Schrift, Grafiken, Text, Logo enthält.&#10;&#10;Automatisch generierte Beschreibung">
            <a:extLst>
              <a:ext uri="{FF2B5EF4-FFF2-40B4-BE49-F238E27FC236}">
                <a16:creationId xmlns:a16="http://schemas.microsoft.com/office/drawing/2014/main" id="{3D429DC0-87DA-4809-8361-697C75ED6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623" y="693025"/>
            <a:ext cx="2713177" cy="669762"/>
          </a:xfrm>
          <a:prstGeom prst="rect">
            <a:avLst/>
          </a:prstGeom>
        </p:spPr>
      </p:pic>
      <p:pic>
        <p:nvPicPr>
          <p:cNvPr id="6" name="Grafik 5" descr="Ein Bild, das Bernstein, gelb, Screenshot, Licht enthält.&#10;&#10;Automatisch generierte Beschreibung">
            <a:extLst>
              <a:ext uri="{FF2B5EF4-FFF2-40B4-BE49-F238E27FC236}">
                <a16:creationId xmlns:a16="http://schemas.microsoft.com/office/drawing/2014/main" id="{8D328E6A-72C1-4226-9B2C-CC4A40052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028" y="681037"/>
            <a:ext cx="2279479" cy="58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18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CB1A05-1E59-416C-816D-F89682EA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err="1">
                <a:latin typeface="Arvo" panose="02000000000000000000" pitchFamily="2" charset="0"/>
              </a:rPr>
              <a:t>Testing</a:t>
            </a:r>
            <a:endParaRPr lang="de-CH">
              <a:latin typeface="Arvo" panose="02000000000000000000" pitchFamily="2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FFE43D-A25E-4093-89F4-44F253590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CH" sz="2400">
                <a:latin typeface="Arvo" panose="02000000000000000000" pitchFamily="2" charset="0"/>
              </a:rPr>
              <a:t>Test different </a:t>
            </a:r>
            <a:r>
              <a:rPr lang="de-CH" sz="2400" err="1">
                <a:latin typeface="Arvo" panose="02000000000000000000" pitchFamily="2" charset="0"/>
              </a:rPr>
              <a:t>stages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of</a:t>
            </a:r>
            <a:r>
              <a:rPr lang="de-CH" sz="2400">
                <a:latin typeface="Arvo" panose="02000000000000000000" pitchFamily="2" charset="0"/>
              </a:rPr>
              <a:t> ML </a:t>
            </a:r>
            <a:r>
              <a:rPr lang="de-CH" sz="2400" err="1">
                <a:latin typeface="Arvo" panose="02000000000000000000" pitchFamily="2" charset="0"/>
              </a:rPr>
              <a:t>system</a:t>
            </a:r>
            <a:endParaRPr lang="de-CH" sz="2400">
              <a:latin typeface="Arvo" panose="02000000000000000000" pitchFamily="2" charset="0"/>
            </a:endParaRPr>
          </a:p>
          <a:p>
            <a:pPr lvl="1"/>
            <a:r>
              <a:rPr lang="de-CH">
                <a:latin typeface="Arvo" panose="02000000000000000000" pitchFamily="2" charset="0"/>
              </a:rPr>
              <a:t>Infrastructure </a:t>
            </a:r>
            <a:r>
              <a:rPr lang="de-CH" err="1">
                <a:latin typeface="Arvo" panose="02000000000000000000" pitchFamily="2" charset="0"/>
              </a:rPr>
              <a:t>tests</a:t>
            </a:r>
            <a:r>
              <a:rPr lang="de-CH">
                <a:latin typeface="Arvo" panose="02000000000000000000" pitchFamily="2" charset="0"/>
              </a:rPr>
              <a:t> </a:t>
            </a:r>
            <a:r>
              <a:rPr lang="de-CH" err="1">
                <a:latin typeface="Arvo" panose="02000000000000000000" pitchFamily="2" charset="0"/>
              </a:rPr>
              <a:t>for</a:t>
            </a:r>
            <a:r>
              <a:rPr lang="de-CH">
                <a:latin typeface="Arvo" panose="02000000000000000000" pitchFamily="2" charset="0"/>
              </a:rPr>
              <a:t> </a:t>
            </a:r>
            <a:r>
              <a:rPr lang="de-CH" err="1">
                <a:latin typeface="Arvo" panose="02000000000000000000" pitchFamily="2" charset="0"/>
              </a:rPr>
              <a:t>training</a:t>
            </a:r>
            <a:endParaRPr lang="de-CH">
              <a:latin typeface="Arvo" panose="02000000000000000000" pitchFamily="2" charset="0"/>
            </a:endParaRPr>
          </a:p>
          <a:p>
            <a:pPr lvl="1"/>
            <a:r>
              <a:rPr lang="de-CH">
                <a:latin typeface="Arvo" panose="02000000000000000000" pitchFamily="2" charset="0"/>
              </a:rPr>
              <a:t>Training </a:t>
            </a:r>
            <a:r>
              <a:rPr lang="de-CH" err="1">
                <a:latin typeface="Arvo" panose="02000000000000000000" pitchFamily="2" charset="0"/>
              </a:rPr>
              <a:t>tests</a:t>
            </a:r>
            <a:r>
              <a:rPr lang="de-CH">
                <a:latin typeface="Arvo" panose="02000000000000000000" pitchFamily="2" charset="0"/>
              </a:rPr>
              <a:t> </a:t>
            </a:r>
            <a:r>
              <a:rPr lang="de-CH" err="1">
                <a:latin typeface="Arvo" panose="02000000000000000000" pitchFamily="2" charset="0"/>
              </a:rPr>
              <a:t>for</a:t>
            </a:r>
            <a:r>
              <a:rPr lang="de-CH">
                <a:latin typeface="Arvo" panose="02000000000000000000" pitchFamily="2" charset="0"/>
              </a:rPr>
              <a:t> </a:t>
            </a:r>
            <a:r>
              <a:rPr lang="de-CH" err="1">
                <a:latin typeface="Arvo" panose="02000000000000000000" pitchFamily="2" charset="0"/>
              </a:rPr>
              <a:t>data</a:t>
            </a:r>
            <a:r>
              <a:rPr lang="de-CH">
                <a:latin typeface="Arvo" panose="02000000000000000000" pitchFamily="2" charset="0"/>
              </a:rPr>
              <a:t> </a:t>
            </a:r>
            <a:r>
              <a:rPr lang="de-CH" err="1">
                <a:latin typeface="Arvo" panose="02000000000000000000" pitchFamily="2" charset="0"/>
              </a:rPr>
              <a:t>storage</a:t>
            </a:r>
            <a:r>
              <a:rPr lang="de-CH">
                <a:latin typeface="Arvo" panose="02000000000000000000" pitchFamily="2" charset="0"/>
              </a:rPr>
              <a:t> and </a:t>
            </a:r>
            <a:r>
              <a:rPr lang="de-CH" err="1">
                <a:latin typeface="Arvo" panose="02000000000000000000" pitchFamily="2" charset="0"/>
              </a:rPr>
              <a:t>training</a:t>
            </a:r>
            <a:r>
              <a:rPr lang="de-CH">
                <a:latin typeface="Arvo" panose="02000000000000000000" pitchFamily="2" charset="0"/>
              </a:rPr>
              <a:t> </a:t>
            </a:r>
            <a:r>
              <a:rPr lang="de-CH" err="1">
                <a:latin typeface="Arvo" panose="02000000000000000000" pitchFamily="2" charset="0"/>
              </a:rPr>
              <a:t>infrastructure</a:t>
            </a:r>
            <a:endParaRPr lang="de-CH">
              <a:latin typeface="Arvo" panose="02000000000000000000" pitchFamily="2" charset="0"/>
            </a:endParaRPr>
          </a:p>
          <a:p>
            <a:pPr lvl="1"/>
            <a:r>
              <a:rPr lang="de-CH" err="1">
                <a:latin typeface="Arvo" panose="02000000000000000000" pitchFamily="2" charset="0"/>
              </a:rPr>
              <a:t>Functionality</a:t>
            </a:r>
            <a:r>
              <a:rPr lang="de-CH">
                <a:latin typeface="Arvo" panose="02000000000000000000" pitchFamily="2" charset="0"/>
              </a:rPr>
              <a:t> </a:t>
            </a:r>
            <a:r>
              <a:rPr lang="de-CH" err="1">
                <a:latin typeface="Arvo" panose="02000000000000000000" pitchFamily="2" charset="0"/>
              </a:rPr>
              <a:t>tests</a:t>
            </a:r>
            <a:r>
              <a:rPr lang="de-CH">
                <a:latin typeface="Arvo" panose="02000000000000000000" pitchFamily="2" charset="0"/>
              </a:rPr>
              <a:t> </a:t>
            </a:r>
            <a:r>
              <a:rPr lang="de-CH" err="1">
                <a:latin typeface="Arvo" panose="02000000000000000000" pitchFamily="2" charset="0"/>
              </a:rPr>
              <a:t>for</a:t>
            </a:r>
            <a:r>
              <a:rPr lang="de-CH">
                <a:latin typeface="Arvo" panose="02000000000000000000" pitchFamily="2" charset="0"/>
              </a:rPr>
              <a:t> </a:t>
            </a:r>
            <a:r>
              <a:rPr lang="de-CH" err="1">
                <a:latin typeface="Arvo" panose="02000000000000000000" pitchFamily="2" charset="0"/>
              </a:rPr>
              <a:t>prediction</a:t>
            </a:r>
            <a:endParaRPr lang="de-CH">
              <a:latin typeface="Arvo" panose="02000000000000000000" pitchFamily="2" charset="0"/>
            </a:endParaRPr>
          </a:p>
          <a:p>
            <a:pPr lvl="1"/>
            <a:r>
              <a:rPr lang="de-CH">
                <a:latin typeface="Arvo" panose="02000000000000000000" pitchFamily="2" charset="0"/>
              </a:rPr>
              <a:t>…</a:t>
            </a:r>
          </a:p>
          <a:p>
            <a:endParaRPr lang="de-CH" sz="2400">
              <a:latin typeface="Arvo" panose="02000000000000000000" pitchFamily="2" charset="0"/>
            </a:endParaRPr>
          </a:p>
          <a:p>
            <a:r>
              <a:rPr lang="de-CH" sz="2400" err="1">
                <a:latin typeface="Arvo" panose="02000000000000000000" pitchFamily="2" charset="0"/>
              </a:rPr>
              <a:t>Automatically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run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tests</a:t>
            </a:r>
            <a:r>
              <a:rPr lang="de-CH" sz="2400">
                <a:latin typeface="Arvo" panose="02000000000000000000" pitchFamily="2" charset="0"/>
              </a:rPr>
              <a:t> in CI/CD </a:t>
            </a:r>
            <a:r>
              <a:rPr lang="de-CH" sz="2400" err="1">
                <a:latin typeface="Arvo" panose="02000000000000000000" pitchFamily="2" charset="0"/>
              </a:rPr>
              <a:t>pipeline</a:t>
            </a:r>
            <a:endParaRPr lang="de-CH" sz="2400">
              <a:latin typeface="Arvo" panose="02000000000000000000" pitchFamily="2" charset="0"/>
            </a:endParaRPr>
          </a:p>
          <a:p>
            <a:endParaRPr lang="de-CH" sz="2400">
              <a:latin typeface="Arvo" panose="02000000000000000000" pitchFamily="2" charset="0"/>
            </a:endParaRPr>
          </a:p>
          <a:p>
            <a:r>
              <a:rPr lang="de-CH" sz="2400" err="1">
                <a:latin typeface="Arvo" panose="02000000000000000000" pitchFamily="2" charset="0"/>
              </a:rPr>
              <a:t>Detect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problems</a:t>
            </a:r>
            <a:r>
              <a:rPr lang="de-CH" sz="2400">
                <a:latin typeface="Arvo" panose="02000000000000000000" pitchFamily="2" charset="0"/>
              </a:rPr>
              <a:t> and </a:t>
            </a:r>
            <a:r>
              <a:rPr lang="de-CH" sz="2400" err="1">
                <a:latin typeface="Arvo" panose="02000000000000000000" pitchFamily="2" charset="0"/>
              </a:rPr>
              <a:t>regressions</a:t>
            </a:r>
            <a:endParaRPr lang="de-CH" sz="2400">
              <a:latin typeface="Arvo" panose="02000000000000000000" pitchFamily="2" charset="0"/>
            </a:endParaRP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3FF98C5B-92FF-420C-866B-AF4EA7671D69}"/>
              </a:ext>
            </a:extLst>
          </p:cNvPr>
          <p:cNvGrpSpPr/>
          <p:nvPr/>
        </p:nvGrpSpPr>
        <p:grpSpPr>
          <a:xfrm>
            <a:off x="5354319" y="595135"/>
            <a:ext cx="3347317" cy="811751"/>
            <a:chOff x="6238588" y="5531341"/>
            <a:chExt cx="2316327" cy="561728"/>
          </a:xfrm>
        </p:grpSpPr>
        <p:pic>
          <p:nvPicPr>
            <p:cNvPr id="8" name="Picture 2" descr="GitHub Actions · GitHub">
              <a:extLst>
                <a:ext uri="{FF2B5EF4-FFF2-40B4-BE49-F238E27FC236}">
                  <a16:creationId xmlns:a16="http://schemas.microsoft.com/office/drawing/2014/main" id="{354100B7-D6EA-4CF1-9B8C-F8366BB1E5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8588" y="5531341"/>
              <a:ext cx="561728" cy="5617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GitHub Actions: powering up your existing repos with build capabilities">
              <a:extLst>
                <a:ext uri="{FF2B5EF4-FFF2-40B4-BE49-F238E27FC236}">
                  <a16:creationId xmlns:a16="http://schemas.microsoft.com/office/drawing/2014/main" id="{F05AEBC7-7FA2-44B6-92A0-75F73D46541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7101" b="62899" l="32344" r="78594">
                          <a14:foregroundMark x1="32344" y1="53043" x2="32344" y2="53043"/>
                          <a14:foregroundMark x1="37109" y1="52464" x2="37109" y2="52464"/>
                          <a14:foregroundMark x1="37188" y1="44928" x2="37188" y2="44928"/>
                          <a14:foregroundMark x1="39922" y1="48406" x2="39922" y2="48406"/>
                          <a14:foregroundMark x1="46094" y1="52464" x2="46094" y2="52464"/>
                          <a14:foregroundMark x1="49531" y1="48406" x2="49531" y2="48406"/>
                          <a14:foregroundMark x1="56719" y1="48986" x2="56719" y2="48986"/>
                          <a14:foregroundMark x1="60000" y1="50725" x2="60000" y2="50725"/>
                          <a14:foregroundMark x1="63828" y1="49565" x2="63828" y2="49565"/>
                          <a14:foregroundMark x1="67656" y1="51884" x2="67656" y2="51884"/>
                          <a14:foregroundMark x1="67813" y1="45507" x2="67813" y2="45507"/>
                          <a14:foregroundMark x1="71875" y1="55072" x2="71875" y2="55072"/>
                          <a14:foregroundMark x1="73359" y1="53043" x2="73359" y2="53043"/>
                          <a14:foregroundMark x1="76953" y1="51014" x2="76953" y2="51014"/>
                          <a14:foregroundMark x1="78438" y1="57391" x2="78594" y2="57391"/>
                          <a14:foregroundMark x1="44688" y1="50145" x2="44688" y2="50145"/>
                          <a14:backgroundMark x1="57266" y1="52174" x2="57266" y2="5217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938" t="34749" r="18942" b="33288"/>
            <a:stretch/>
          </p:blipFill>
          <p:spPr bwMode="auto">
            <a:xfrm>
              <a:off x="6831089" y="5664053"/>
              <a:ext cx="1723826" cy="2963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D33C1C89-E8AF-4308-B36B-058FBA50E94F}"/>
              </a:ext>
            </a:extLst>
          </p:cNvPr>
          <p:cNvGrpSpPr/>
          <p:nvPr/>
        </p:nvGrpSpPr>
        <p:grpSpPr>
          <a:xfrm>
            <a:off x="8991600" y="630274"/>
            <a:ext cx="2362200" cy="741471"/>
            <a:chOff x="3102503" y="-388817"/>
            <a:chExt cx="9089497" cy="2853105"/>
          </a:xfrm>
        </p:grpSpPr>
        <p:pic>
          <p:nvPicPr>
            <p:cNvPr id="11" name="Picture 6">
              <a:extLst>
                <a:ext uri="{FF2B5EF4-FFF2-40B4-BE49-F238E27FC236}">
                  <a16:creationId xmlns:a16="http://schemas.microsoft.com/office/drawing/2014/main" id="{AA22596F-EF15-43EE-A831-ED79177BDD2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15" t="9321" r="31764" b="49077"/>
            <a:stretch/>
          </p:blipFill>
          <p:spPr bwMode="auto">
            <a:xfrm>
              <a:off x="3102503" y="-388817"/>
              <a:ext cx="2593731" cy="28531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8">
              <a:extLst>
                <a:ext uri="{FF2B5EF4-FFF2-40B4-BE49-F238E27FC236}">
                  <a16:creationId xmlns:a16="http://schemas.microsoft.com/office/drawing/2014/main" id="{F63F5454-8DBE-403A-A121-675D2ABC75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519" b="14660"/>
            <a:stretch/>
          </p:blipFill>
          <p:spPr bwMode="auto">
            <a:xfrm>
              <a:off x="5334000" y="152324"/>
              <a:ext cx="6858000" cy="1770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63912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CB1A05-1E59-416C-816D-F89682EA8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6986015" cy="1776484"/>
          </a:xfrm>
        </p:spPr>
        <p:txBody>
          <a:bodyPr anchor="ctr">
            <a:normAutofit/>
          </a:bodyPr>
          <a:lstStyle/>
          <a:p>
            <a:r>
              <a:rPr lang="de-CH" err="1">
                <a:latin typeface="Arvo" panose="02000000000000000000" pitchFamily="2" charset="0"/>
              </a:rPr>
              <a:t>Deployment</a:t>
            </a:r>
            <a:endParaRPr lang="de-CH" sz="5400">
              <a:latin typeface="Arvo" panose="02000000000000000000" pitchFamily="2" charset="0"/>
            </a:endParaRPr>
          </a:p>
        </p:txBody>
      </p:sp>
      <p:pic>
        <p:nvPicPr>
          <p:cNvPr id="5" name="Grafik 24" descr="Ein Bild, das Schrift, Grafiken, Grafikdesign, Logo enthält.&#10;&#10;Automatisch generierte Beschreibung">
            <a:extLst>
              <a:ext uri="{FF2B5EF4-FFF2-40B4-BE49-F238E27FC236}">
                <a16:creationId xmlns:a16="http://schemas.microsoft.com/office/drawing/2014/main" id="{1BA30610-6255-5B67-B27C-4CC431EBD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9409" y="805332"/>
            <a:ext cx="3532036" cy="803538"/>
          </a:xfrm>
          <a:prstGeom prst="rect">
            <a:avLst/>
          </a:prstGeom>
        </p:spPr>
      </p:pic>
      <p:sp>
        <p:nvSpPr>
          <p:cNvPr id="43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FFE43D-A25E-4093-89F4-44F253590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04819"/>
            <a:ext cx="6986016" cy="36721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de-CH" sz="2400" err="1">
                <a:latin typeface="Arvo" panose="02000000000000000000" pitchFamily="2" charset="0"/>
              </a:rPr>
              <a:t>Dockerized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deployment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for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reproducibility</a:t>
            </a:r>
            <a:r>
              <a:rPr lang="de-CH" sz="2400">
                <a:latin typeface="Arvo" panose="02000000000000000000" pitchFamily="2" charset="0"/>
              </a:rPr>
              <a:t> and </a:t>
            </a:r>
            <a:r>
              <a:rPr lang="de-CH" sz="2400" err="1">
                <a:latin typeface="Arvo" panose="02000000000000000000" pitchFamily="2" charset="0"/>
              </a:rPr>
              <a:t>flexibility</a:t>
            </a:r>
            <a:endParaRPr lang="de-CH" sz="2400">
              <a:latin typeface="Arvo" panose="02000000000000000000" pitchFamily="2" charset="0"/>
            </a:endParaRPr>
          </a:p>
          <a:p>
            <a:endParaRPr lang="de-CH" sz="2400">
              <a:latin typeface="Arvo" panose="02000000000000000000" pitchFamily="2" charset="0"/>
            </a:endParaRPr>
          </a:p>
          <a:p>
            <a:r>
              <a:rPr lang="de-CH" sz="2400">
                <a:latin typeface="Arvo"/>
              </a:rPr>
              <a:t>Use </a:t>
            </a:r>
            <a:r>
              <a:rPr lang="de-CH" sz="2400" err="1">
                <a:latin typeface="Arvo"/>
              </a:rPr>
              <a:t>FastAPI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to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provide</a:t>
            </a:r>
            <a:r>
              <a:rPr lang="de-CH" sz="2400">
                <a:latin typeface="Arvo"/>
              </a:rPr>
              <a:t> REST </a:t>
            </a:r>
            <a:r>
              <a:rPr lang="de-CH" sz="2400" err="1">
                <a:latin typeface="Arvo"/>
              </a:rPr>
              <a:t>endpoints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for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model</a:t>
            </a:r>
            <a:r>
              <a:rPr lang="de-CH" sz="2400">
                <a:latin typeface="Arvo"/>
              </a:rPr>
              <a:t> </a:t>
            </a:r>
            <a:r>
              <a:rPr lang="de-CH" sz="2400" err="1">
                <a:latin typeface="Arvo"/>
              </a:rPr>
              <a:t>access</a:t>
            </a:r>
            <a:r>
              <a:rPr lang="de-CH" sz="2400">
                <a:latin typeface="Arvo"/>
              </a:rPr>
              <a:t> </a:t>
            </a:r>
            <a:endParaRPr lang="de-CH" sz="2400">
              <a:latin typeface="Arvo" panose="02000000000000000000" pitchFamily="2" charset="0"/>
            </a:endParaRPr>
          </a:p>
          <a:p>
            <a:endParaRPr lang="de-CH" sz="2400">
              <a:latin typeface="Arvo" panose="02000000000000000000" pitchFamily="2" charset="0"/>
            </a:endParaRPr>
          </a:p>
          <a:p>
            <a:r>
              <a:rPr lang="de-CH" sz="2400">
                <a:latin typeface="Arvo" panose="02000000000000000000" pitchFamily="2" charset="0"/>
              </a:rPr>
              <a:t>Use </a:t>
            </a:r>
            <a:r>
              <a:rPr lang="de-CH" sz="2400" err="1">
                <a:latin typeface="Arvo" panose="02000000000000000000" pitchFamily="2" charset="0"/>
              </a:rPr>
              <a:t>Streamlit</a:t>
            </a:r>
            <a:r>
              <a:rPr lang="de-CH" sz="2400">
                <a:latin typeface="Arvo" panose="02000000000000000000" pitchFamily="2" charset="0"/>
              </a:rPr>
              <a:t> </a:t>
            </a:r>
            <a:r>
              <a:rPr lang="de-CH" sz="2400" err="1">
                <a:latin typeface="Arvo" panose="02000000000000000000" pitchFamily="2" charset="0"/>
              </a:rPr>
              <a:t>for</a:t>
            </a:r>
            <a:r>
              <a:rPr lang="de-CH" sz="2400">
                <a:latin typeface="Arvo" panose="02000000000000000000" pitchFamily="2" charset="0"/>
              </a:rPr>
              <a:t> a clean and simple UI</a:t>
            </a:r>
          </a:p>
        </p:txBody>
      </p:sp>
      <p:pic>
        <p:nvPicPr>
          <p:cNvPr id="14" name="Grafik 13" descr="Ein Bild, das Schrift, Grafiken, Logo, Screenshot enthält.&#10;&#10;Automatisch generierte Beschreibung">
            <a:extLst>
              <a:ext uri="{FF2B5EF4-FFF2-40B4-BE49-F238E27FC236}">
                <a16:creationId xmlns:a16="http://schemas.microsoft.com/office/drawing/2014/main" id="{4292F12D-C19B-4A1D-9D44-A16E9A7C81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05" t="28258" r="7337" b="21770"/>
          <a:stretch/>
        </p:blipFill>
        <p:spPr>
          <a:xfrm>
            <a:off x="8381136" y="2876068"/>
            <a:ext cx="3530309" cy="758255"/>
          </a:xfrm>
          <a:prstGeom prst="rect">
            <a:avLst/>
          </a:prstGeom>
        </p:spPr>
      </p:pic>
      <p:pic>
        <p:nvPicPr>
          <p:cNvPr id="15" name="Grafik 14" descr="Ein Bild, das Grafiken, Schrift, Grafikdesign, Design enthält.&#10;&#10;Automatisch generierte Beschreibung">
            <a:extLst>
              <a:ext uri="{FF2B5EF4-FFF2-40B4-BE49-F238E27FC236}">
                <a16:creationId xmlns:a16="http://schemas.microsoft.com/office/drawing/2014/main" id="{4CF1BAF7-CDA7-42DC-B28A-1EF7E7399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136" y="4813460"/>
            <a:ext cx="3530309" cy="979661"/>
          </a:xfrm>
          <a:prstGeom prst="rect">
            <a:avLst/>
          </a:prstGeom>
        </p:spPr>
      </p:pic>
      <p:sp>
        <p:nvSpPr>
          <p:cNvPr id="18" name="Rechteck 17">
            <a:extLst>
              <a:ext uri="{FF2B5EF4-FFF2-40B4-BE49-F238E27FC236}">
                <a16:creationId xmlns:a16="http://schemas.microsoft.com/office/drawing/2014/main" id="{FC2CA8DC-597E-4104-8C8D-6787BD349121}"/>
              </a:ext>
            </a:extLst>
          </p:cNvPr>
          <p:cNvSpPr/>
          <p:nvPr/>
        </p:nvSpPr>
        <p:spPr>
          <a:xfrm>
            <a:off x="524738" y="2141609"/>
            <a:ext cx="5060274" cy="233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54786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AC946A2B6EF444AB980022CEFBC5A82" ma:contentTypeVersion="3" ma:contentTypeDescription="Ein neues Dokument erstellen." ma:contentTypeScope="" ma:versionID="314e4cf8d139ccf42a85068bab858af2">
  <xsd:schema xmlns:xsd="http://www.w3.org/2001/XMLSchema" xmlns:xs="http://www.w3.org/2001/XMLSchema" xmlns:p="http://schemas.microsoft.com/office/2006/metadata/properties" xmlns:ns2="4ce8adac-8bb3-4195-8104-5ef0883149ea" targetNamespace="http://schemas.microsoft.com/office/2006/metadata/properties" ma:root="true" ma:fieldsID="f3ee67f8fc34c6091c5bb7484a0d5163" ns2:_="">
    <xsd:import namespace="4ce8adac-8bb3-4195-8104-5ef0883149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e8adac-8bb3-4195-8104-5ef0883149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72451D-6E97-40EE-8652-D524101667DA}">
  <ds:schemaRefs>
    <ds:schemaRef ds:uri="4ce8adac-8bb3-4195-8104-5ef0883149e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C17EA2D-AFE7-4B7E-A2D1-BE80A94AC03D}">
  <ds:schemaRefs>
    <ds:schemaRef ds:uri="http://schemas.microsoft.com/office/2006/metadata/properties"/>
    <ds:schemaRef ds:uri="4ce8adac-8bb3-4195-8104-5ef0883149ea"/>
    <ds:schemaRef ds:uri="http://www.w3.org/XML/1998/namespace"/>
    <ds:schemaRef ds:uri="http://purl.org/dc/dcmitype/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8DC472AD-D81D-4D2D-A21B-ED41FE56A51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</Words>
  <Application>Microsoft Office PowerPoint</Application>
  <PresentationFormat>Breitbild</PresentationFormat>
  <Paragraphs>58</Paragraphs>
  <Slides>10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6" baseType="lpstr">
      <vt:lpstr>Aptos</vt:lpstr>
      <vt:lpstr>Arial</vt:lpstr>
      <vt:lpstr>Arvo</vt:lpstr>
      <vt:lpstr>Calibri</vt:lpstr>
      <vt:lpstr>Calibri Light</vt:lpstr>
      <vt:lpstr>Office</vt:lpstr>
      <vt:lpstr>Book Recommendation with Self-Supervised Learning</vt:lpstr>
      <vt:lpstr>Motivation &amp; Goal</vt:lpstr>
      <vt:lpstr>Achieving good Recommendations</vt:lpstr>
      <vt:lpstr>Mockup</vt:lpstr>
      <vt:lpstr>Technologies</vt:lpstr>
      <vt:lpstr>System Architecture</vt:lpstr>
      <vt:lpstr>Versioning</vt:lpstr>
      <vt:lpstr>Training</vt:lpstr>
      <vt:lpstr>Testing</vt:lpstr>
      <vt:lpstr>Deployment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 Recommendation with Self-Supervised Learning</dc:title>
  <dc:creator>Jeanot Zubler</dc:creator>
  <cp:lastModifiedBy>Jeanot Zubler</cp:lastModifiedBy>
  <cp:revision>2</cp:revision>
  <dcterms:created xsi:type="dcterms:W3CDTF">2026-04-13T20:14:57Z</dcterms:created>
  <dcterms:modified xsi:type="dcterms:W3CDTF">2026-04-20T19:32:34Z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0x0101000AC946A2B6EF444AB980022CEFBC5A82</vt:lpwstr>
  </property>
</Properties>
</file>